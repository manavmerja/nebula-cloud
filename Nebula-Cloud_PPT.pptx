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9"/>
  </p:normalViewPr>
  <p:slideViewPr>
    <p:cSldViewPr snapToGrid="0">
      <p:cViewPr varScale="1">
        <p:scale>
          <a:sx n="92" d="100"/>
          <a:sy n="92" d="100"/>
        </p:scale>
        <p:origin x="2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20544-4DDD-D543-86B9-15F68994DCE8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BDCD-D74E-1242-9473-91D309BD7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EBDCD-D74E-1242-9473-91D309BD71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2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EBDCD-D74E-1242-9473-91D309BD7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6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9D71-3E0E-275F-F489-9CA89B900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B768F-FFF6-8B58-6F06-1E820061F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C407-903F-2055-9F67-67877DA0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CBEAD-4007-8F4B-B8F6-17844FEA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EB44-9266-D473-D093-7CB91853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8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3A54-68ED-2912-CFCF-B9E364A0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E27A-4EE4-1115-80AE-8CC032E06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DFC37-232A-950E-AA89-E024C7F5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484FA-0CAC-51A8-1778-8263DB47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4E3B3-3DAB-4DEC-BF84-482540D1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3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5A81-34EB-587B-FF26-0F9E465E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79884-64F3-E092-B4CA-286F1A6B8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9B0C6-E657-D44D-D63D-CCBAC3DC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CF499-8F6D-CEF3-161F-91641C8A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25197-0A57-CC62-7208-F4A81321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CB4A-4429-ABBE-B99F-BDF050DD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D7E0-F360-BAB3-9FE2-345EC905E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EC58F-169C-6533-F64C-3B9FE9158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A47A8-89D1-C370-B1C0-E82F2C1F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277DA-0AD1-DC9D-0F72-3611B762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5024E-E1AD-C229-A0EE-0B28716E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1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5D03-54E5-0A22-A807-3494CBCE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5889D-0FA0-47BD-9E5E-AF62350E3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FA99F-EA51-DF9D-55AF-CF144266A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09D60-7E60-9740-F8FE-37C80D55B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92FE7-192F-69CD-F8AD-943E2D3D9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52EBB-AE7B-4D8D-FE51-87A072FE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8621C-7AE1-93AD-F8EC-1A973303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B2F92-5D05-8F57-B47D-DB5F8635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3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32DD-7F83-E01D-E1BE-9A50C1C0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45664-61DC-47DD-7E74-334897B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7038C-9CCB-51C9-C70E-94E7534E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28C00-151C-22AF-2305-82782E58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5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0DC00-B2BB-C9D0-531B-C818ECA7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6A4CD-BB99-0F51-ADBA-41836F3C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F15B9-2CFF-9076-C820-179426CF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7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959D-15D3-CE9A-D6F3-BBC63381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5769-1723-11D1-DE5E-019798E4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36D9B-B750-8E79-3E4B-9D39AFA6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409DB-5387-8756-F0E5-A6A5B34D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565FC-ACD8-4B5F-AC03-A700294A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C9E58-8A4A-D169-BB15-D468012A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669D-DE4B-9343-7AEE-172F9702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CC8FC-D6CA-DB47-BAAF-D5F63ED08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39BEF-3493-5F08-C84C-4D23811FA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885F3-955B-ADAC-72CD-E32A20B7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CE267-CFC5-A9A8-3E06-485E7D0F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701BF-B753-8CF8-6AC1-28A743F5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1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058F-9425-6992-31FB-655DC6FF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249D9-47C9-6598-D235-735823629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985EE-91ED-202B-E5B7-64109EDB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CA5D1-F9C2-68FA-FD66-788EA37A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41B31-7D86-323D-7338-F57F5F3E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84D8E-93FD-9336-83FC-0652A4F62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5B8B9-0509-9348-13E3-84DD0FB32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401A-9E0C-BF89-0066-237C8422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E2C43-46AD-3120-C317-8379AAC5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19B72-80DD-84C1-9326-7129FD29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1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775A17-AC0E-89FB-09E1-D5477259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B60CC-9109-FB19-060C-A77A30152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0A34E-BCB8-772A-0018-05AB728AC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DE513-C7B6-CA40-A205-75DAFAA7B8A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E0D7-7FEA-4926-0377-16A4330AD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CAA0-A5D9-751A-0726-CC9157360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9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9C1315-1192-1696-0753-6E510AFF98F0}"/>
              </a:ext>
            </a:extLst>
          </p:cNvPr>
          <p:cNvSpPr txBox="1"/>
          <p:nvPr/>
        </p:nvSpPr>
        <p:spPr>
          <a:xfrm>
            <a:off x="294821" y="2571810"/>
            <a:ext cx="5039179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b="0" dirty="0"/>
              <a:t>Team Name :</a:t>
            </a:r>
            <a:r>
              <a:rPr lang="en-IN" dirty="0"/>
              <a:t>Heisenberg</a:t>
            </a:r>
            <a:endParaRPr lang="en-IN" b="0" dirty="0"/>
          </a:p>
          <a:p>
            <a:pPr fontAlgn="base">
              <a:lnSpc>
                <a:spcPct val="150000"/>
              </a:lnSpc>
            </a:pPr>
            <a:r>
              <a:rPr lang="en-IN" b="0" dirty="0"/>
              <a:t>Problem Statement Title :</a:t>
            </a:r>
            <a:r>
              <a:rPr lang="it-IT" dirty="0"/>
              <a:t>AI-Driven Infrastructure Diagram &amp; IaC Code Generator </a:t>
            </a:r>
            <a:endParaRPr lang="en-IN" b="0" dirty="0"/>
          </a:p>
          <a:p>
            <a:pPr fontAlgn="base">
              <a:lnSpc>
                <a:spcPct val="150000"/>
              </a:lnSpc>
            </a:pPr>
            <a:r>
              <a:rPr lang="en-IN" b="0" dirty="0"/>
              <a:t>Domain :</a:t>
            </a:r>
            <a:r>
              <a:rPr lang="en-US" dirty="0"/>
              <a:t>Large Language Models (LLMs) and Generative AI</a:t>
            </a:r>
            <a:endParaRPr lang="en-IN" b="0" dirty="0"/>
          </a:p>
          <a:p>
            <a:pPr fontAlgn="base">
              <a:lnSpc>
                <a:spcPct val="150000"/>
              </a:lnSpc>
            </a:pPr>
            <a:r>
              <a:rPr lang="en-IN" dirty="0"/>
              <a:t>Team Lead :Manav </a:t>
            </a:r>
            <a:endParaRPr lang="en-IN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76F78-8CEF-3E2D-5CA8-E48B0514F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E0383-ED80-A4BD-EF13-0538336B8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99C47A8F-2EC5-5629-37D0-7D3DC14F742A}"/>
              </a:ext>
            </a:extLst>
          </p:cNvPr>
          <p:cNvSpPr txBox="1"/>
          <p:nvPr/>
        </p:nvSpPr>
        <p:spPr>
          <a:xfrm>
            <a:off x="0" y="-11152"/>
            <a:ext cx="12192000" cy="85073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Idea 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8071A-242B-0C25-D05A-228FC4D4A09F}"/>
              </a:ext>
            </a:extLst>
          </p:cNvPr>
          <p:cNvSpPr txBox="1"/>
          <p:nvPr/>
        </p:nvSpPr>
        <p:spPr>
          <a:xfrm>
            <a:off x="-12472" y="1117941"/>
            <a:ext cx="61056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FF00"/>
                </a:highlight>
              </a:rPr>
              <a:t>The Problem: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956B22-18A9-5A1A-092A-2DED66FBAEF7}"/>
              </a:ext>
            </a:extLst>
          </p:cNvPr>
          <p:cNvSpPr txBox="1"/>
          <p:nvPr/>
        </p:nvSpPr>
        <p:spPr>
          <a:xfrm>
            <a:off x="606827" y="1627027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Complexity Overload:</a:t>
            </a:r>
            <a:r>
              <a:rPr lang="en-US" dirty="0"/>
              <a:t> Cloud consoles (AWS) have thousands of services, making them overwhelming for students and beginners.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4E752-600B-0ADA-C6F1-F4A481832143}"/>
              </a:ext>
            </a:extLst>
          </p:cNvPr>
          <p:cNvSpPr txBox="1"/>
          <p:nvPr/>
        </p:nvSpPr>
        <p:spPr>
          <a:xfrm>
            <a:off x="606828" y="2379020"/>
            <a:ext cx="10465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Steep Learning Curve:</a:t>
            </a:r>
            <a:r>
              <a:rPr lang="en-US" dirty="0"/>
              <a:t> Mastering "Infrastructure as Code" (Terraform) takes months of practice.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11A09E-72DA-73BB-EBE5-8717786B2E14}"/>
              </a:ext>
            </a:extLst>
          </p:cNvPr>
          <p:cNvSpPr txBox="1"/>
          <p:nvPr/>
        </p:nvSpPr>
        <p:spPr>
          <a:xfrm>
            <a:off x="606829" y="2930408"/>
            <a:ext cx="10465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Visualization Gap:</a:t>
            </a:r>
            <a:r>
              <a:rPr lang="en-US" dirty="0"/>
              <a:t> Developers struggle to visualize how services connect (e.g., EC2 to RDS) without manual drawing tools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515DFD-E420-0595-EF3E-170E129FE7A3}"/>
              </a:ext>
            </a:extLst>
          </p:cNvPr>
          <p:cNvSpPr txBox="1"/>
          <p:nvPr/>
        </p:nvSpPr>
        <p:spPr>
          <a:xfrm>
            <a:off x="-12472" y="3682401"/>
            <a:ext cx="6138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FF00"/>
                </a:highlight>
              </a:rPr>
              <a:t>The Solution: Nebula Cloud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C8BD0E-F8EA-DA06-E9E5-6A31DC1C95F7}"/>
              </a:ext>
            </a:extLst>
          </p:cNvPr>
          <p:cNvSpPr txBox="1"/>
          <p:nvPr/>
        </p:nvSpPr>
        <p:spPr>
          <a:xfrm>
            <a:off x="606826" y="4194802"/>
            <a:ext cx="11122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Natural Language to Cloud:</a:t>
            </a:r>
            <a:r>
              <a:rPr lang="en-US" dirty="0"/>
              <a:t> We built an intelligent interface where users type simple English (e.g., "Create a secure web server"), and the AI generates a </a:t>
            </a:r>
            <a:r>
              <a:rPr lang="en-US" b="1" dirty="0"/>
              <a:t>Visual Architecture Diagram</a:t>
            </a:r>
            <a:r>
              <a:rPr lang="en-US" dirty="0"/>
              <a:t> automatically.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6A59A2-9C0F-5974-AA57-77D853CD335C}"/>
              </a:ext>
            </a:extLst>
          </p:cNvPr>
          <p:cNvSpPr txBox="1"/>
          <p:nvPr/>
        </p:nvSpPr>
        <p:spPr>
          <a:xfrm>
            <a:off x="606826" y="4946795"/>
            <a:ext cx="10972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Instant Code Generation:</a:t>
            </a:r>
            <a:r>
              <a:rPr lang="en-US" dirty="0"/>
              <a:t> Alongside the visual diagram, the system instantly generates production-ready </a:t>
            </a:r>
            <a:r>
              <a:rPr lang="en-US" b="1" dirty="0"/>
              <a:t>Terraform Code.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C9E2F0-0949-4FA5-0B4B-15AC39EFAE25}"/>
              </a:ext>
            </a:extLst>
          </p:cNvPr>
          <p:cNvSpPr txBox="1"/>
          <p:nvPr/>
        </p:nvSpPr>
        <p:spPr>
          <a:xfrm>
            <a:off x="606826" y="5736195"/>
            <a:ext cx="10972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Two-Way Synchronization:</a:t>
            </a:r>
            <a:r>
              <a:rPr lang="en-US" dirty="0"/>
              <a:t> Unlike ChatGPT, our tool offers a "Full Control Loop"—change the diagram, and the code updates; change the code, and the diagram updates.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38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D09F-C139-4929-49F1-2D351319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D48B9F44-8FC4-2D12-9CD3-A33DDFFE5AC7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Objective &amp; Prototype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F170D87C-3459-ED02-64F0-B8CCC2C283FE}"/>
              </a:ext>
            </a:extLst>
          </p:cNvPr>
          <p:cNvSpPr txBox="1">
            <a:spLocks/>
          </p:cNvSpPr>
          <p:nvPr/>
        </p:nvSpPr>
        <p:spPr>
          <a:xfrm>
            <a:off x="1111404" y="2240353"/>
            <a:ext cx="9969191" cy="1573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endParaRPr lang="en-US" sz="3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C3CAB80-E97F-7253-1D53-71D9D1B2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7" y="914399"/>
            <a:ext cx="4688899" cy="2709950"/>
          </a:xfrm>
        </p:spPr>
        <p:txBody>
          <a:bodyPr>
            <a:normAutofit fontScale="90000"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Objectives</a:t>
            </a:r>
            <a:r>
              <a:rPr lang="en-IN" sz="1400" dirty="0">
                <a:highlight>
                  <a:srgbClr val="FFFF00"/>
                </a:highlight>
              </a:rPr>
              <a:t>:</a:t>
            </a:r>
            <a:br>
              <a:rPr lang="en-IN" sz="1400" dirty="0">
                <a:highlight>
                  <a:srgbClr val="FFFF00"/>
                </a:highlight>
              </a:rPr>
            </a:br>
            <a:br>
              <a:rPr lang="en-IN" sz="1400" dirty="0">
                <a:highlight>
                  <a:srgbClr val="FFFF00"/>
                </a:highlight>
              </a:rPr>
            </a:br>
            <a:r>
              <a:rPr lang="en-US" sz="1800" b="1" dirty="0"/>
              <a:t>Automate Design:</a:t>
            </a:r>
            <a:r>
              <a:rPr lang="en-US" sz="1800" dirty="0"/>
              <a:t> Reduce cloud architecture design time from hours to seconds using NLP.</a:t>
            </a:r>
            <a:br>
              <a:rPr lang="en-US" sz="1800" dirty="0"/>
            </a:br>
            <a:br>
              <a:rPr lang="en-US" sz="1600" dirty="0"/>
            </a:br>
            <a:r>
              <a:rPr lang="en-US" sz="1800" b="1" dirty="0"/>
              <a:t>Interactive Learning:</a:t>
            </a:r>
            <a:r>
              <a:rPr lang="en-US" sz="1800" dirty="0"/>
              <a:t> Provide a drag-and-drop canvas (React Flow) to help students learn cloud concepts visually.</a:t>
            </a:r>
            <a:br>
              <a:rPr lang="en-US" sz="1400" dirty="0"/>
            </a:br>
            <a:br>
              <a:rPr lang="en-US" sz="1400" dirty="0"/>
            </a:br>
            <a:r>
              <a:rPr lang="en-US" sz="1800" b="1" dirty="0"/>
              <a:t>Production Ready:</a:t>
            </a:r>
            <a:r>
              <a:rPr lang="en-US" sz="1800" dirty="0"/>
              <a:t> Generate valid, deployable Terraform code directly from the visual design.</a:t>
            </a:r>
            <a:br>
              <a:rPr lang="en-US" sz="1800" dirty="0"/>
            </a:br>
            <a:br>
              <a:rPr lang="en-US" sz="1400" dirty="0"/>
            </a:br>
            <a:endParaRPr lang="en-IN" sz="1400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967B211-7BD7-07BB-4285-B02B51B14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1753" y="794092"/>
            <a:ext cx="7212676" cy="581258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8D9FB3-57A6-8AFF-31C6-48C3B05FF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3740728"/>
            <a:ext cx="4594281" cy="3408217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Prototype Workflow: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/>
              <a:t>Step 1:</a:t>
            </a:r>
            <a:r>
              <a:rPr lang="en-US" dirty="0"/>
              <a:t> User inputs prompt.</a:t>
            </a:r>
          </a:p>
          <a:p>
            <a:r>
              <a:rPr lang="en-US" b="1" dirty="0"/>
              <a:t>Step 2:</a:t>
            </a:r>
            <a:r>
              <a:rPr lang="en-US" dirty="0"/>
              <a:t> </a:t>
            </a:r>
            <a:r>
              <a:rPr lang="en-US" b="1" dirty="0"/>
              <a:t>Python Backend (</a:t>
            </a:r>
            <a:r>
              <a:rPr lang="en-US" b="1" dirty="0" err="1"/>
              <a:t>FastAPI</a:t>
            </a:r>
            <a:r>
              <a:rPr lang="en-US" b="1" dirty="0"/>
              <a:t>)</a:t>
            </a:r>
            <a:r>
              <a:rPr lang="en-US" dirty="0"/>
              <a:t> converts prompt to JSON Structure using </a:t>
            </a:r>
            <a:r>
              <a:rPr lang="en-US" b="1" dirty="0" err="1"/>
              <a:t>LangChain</a:t>
            </a:r>
            <a:r>
              <a:rPr lang="en-US" dirty="0"/>
              <a:t>.</a:t>
            </a:r>
          </a:p>
          <a:p>
            <a:r>
              <a:rPr lang="en-US" b="1" dirty="0"/>
              <a:t>Step 3:</a:t>
            </a:r>
            <a:r>
              <a:rPr lang="en-US" dirty="0"/>
              <a:t> </a:t>
            </a:r>
            <a:r>
              <a:rPr lang="en-US" b="1" dirty="0"/>
              <a:t>React Flow Agent</a:t>
            </a:r>
            <a:r>
              <a:rPr lang="en-US" dirty="0"/>
              <a:t> renders the interactive diagram.</a:t>
            </a:r>
          </a:p>
          <a:p>
            <a:r>
              <a:rPr lang="en-IN" b="1" dirty="0"/>
              <a:t>Step 4:</a:t>
            </a:r>
            <a:r>
              <a:rPr lang="en-IN" dirty="0"/>
              <a:t> </a:t>
            </a:r>
            <a:r>
              <a:rPr lang="en-IN" b="1" dirty="0"/>
              <a:t>Terraform Agent </a:t>
            </a:r>
            <a:r>
              <a:rPr lang="en-IN" dirty="0"/>
              <a:t>generates the HCL code.</a:t>
            </a:r>
            <a:endParaRPr lang="en-US" dirty="0"/>
          </a:p>
          <a:p>
            <a:r>
              <a:rPr lang="en-IN" b="1" dirty="0"/>
              <a:t>Sync Logic:</a:t>
            </a:r>
            <a:r>
              <a:rPr lang="en-US" dirty="0"/>
              <a:t>Any manual edit in Visuals triggers </a:t>
            </a:r>
            <a:r>
              <a:rPr lang="en-IN" dirty="0"/>
              <a:t>an auto-update in Code (and vice-versa).</a:t>
            </a:r>
            <a:endParaRPr lang="en-IN" b="1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5E7BB6C-D129-86F4-B407-96EA61818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Terraform Agent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the HCL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97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C6134-97E7-6035-F4A0-3648F62F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87ED1879-1815-994A-0E37-38AFCD49144B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Feasibility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021BE928-FD25-4500-C47D-CB50ADE7F144}"/>
              </a:ext>
            </a:extLst>
          </p:cNvPr>
          <p:cNvSpPr txBox="1">
            <a:spLocks/>
          </p:cNvSpPr>
          <p:nvPr/>
        </p:nvSpPr>
        <p:spPr>
          <a:xfrm>
            <a:off x="0" y="873215"/>
            <a:ext cx="9282887" cy="76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r>
              <a:rPr lang="en-IN" sz="1800" dirty="0">
                <a:highlight>
                  <a:srgbClr val="00FF00"/>
                </a:highlight>
              </a:rPr>
              <a:t>Technical Implementation</a:t>
            </a:r>
            <a:r>
              <a:rPr lang="en-IN" sz="1800" dirty="0"/>
              <a:t>: </a:t>
            </a:r>
            <a:r>
              <a:rPr lang="en-US" sz="1800" b="0" dirty="0"/>
              <a:t>We have implemented a scalable </a:t>
            </a:r>
            <a:r>
              <a:rPr lang="en-US" sz="1800" dirty="0"/>
              <a:t>Microservices Architecture: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D136A-0003-EE44-DA4B-FACD073DD5AA}"/>
              </a:ext>
            </a:extLst>
          </p:cNvPr>
          <p:cNvSpPr txBox="1"/>
          <p:nvPr/>
        </p:nvSpPr>
        <p:spPr>
          <a:xfrm>
            <a:off x="211975" y="1543042"/>
            <a:ext cx="11774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Frontend (The Canvas):</a:t>
            </a:r>
            <a:r>
              <a:rPr lang="en-US" dirty="0"/>
              <a:t> Built with </a:t>
            </a:r>
            <a:r>
              <a:rPr lang="en-US" b="1" dirty="0"/>
              <a:t>Next.js</a:t>
            </a:r>
            <a:r>
              <a:rPr lang="en-US" dirty="0"/>
              <a:t> and </a:t>
            </a:r>
            <a:r>
              <a:rPr lang="en-US" b="1" dirty="0"/>
              <a:t>React Flow</a:t>
            </a:r>
            <a:r>
              <a:rPr lang="en-US" dirty="0"/>
              <a:t> for high-performance rendering. Hosted on </a:t>
            </a:r>
            <a:r>
              <a:rPr lang="en-US" b="1" dirty="0" err="1"/>
              <a:t>Vercel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42F81-5143-150A-0160-B0F14267A3B8}"/>
              </a:ext>
            </a:extLst>
          </p:cNvPr>
          <p:cNvSpPr txBox="1"/>
          <p:nvPr/>
        </p:nvSpPr>
        <p:spPr>
          <a:xfrm>
            <a:off x="211975" y="2013140"/>
            <a:ext cx="1088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Backend (The Brain):</a:t>
            </a:r>
            <a:r>
              <a:rPr lang="en-IN" dirty="0"/>
              <a:t> </a:t>
            </a:r>
            <a:r>
              <a:rPr lang="en-US" b="1" dirty="0"/>
              <a:t>Python </a:t>
            </a:r>
            <a:r>
              <a:rPr lang="en-US" b="1" dirty="0" err="1"/>
              <a:t>FastAPI</a:t>
            </a:r>
            <a:r>
              <a:rPr lang="en-US" dirty="0"/>
              <a:t> server hosted on </a:t>
            </a:r>
            <a:r>
              <a:rPr lang="en-US" b="1" dirty="0"/>
              <a:t>Hugging Face Spaces</a:t>
            </a:r>
            <a:r>
              <a:rPr lang="en-US" dirty="0"/>
              <a:t> (</a:t>
            </a:r>
            <a:r>
              <a:rPr lang="en-US" dirty="0" err="1"/>
              <a:t>Dockerized</a:t>
            </a:r>
            <a:r>
              <a:rPr lang="en-US" dirty="0"/>
              <a:t> Container).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9BC7C-1C03-6965-82D6-A3B918AF69C8}"/>
              </a:ext>
            </a:extLst>
          </p:cNvPr>
          <p:cNvSpPr txBox="1"/>
          <p:nvPr/>
        </p:nvSpPr>
        <p:spPr>
          <a:xfrm>
            <a:off x="211974" y="2483238"/>
            <a:ext cx="11359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 Engine:</a:t>
            </a:r>
            <a:r>
              <a:rPr lang="en-US" dirty="0"/>
              <a:t> Powered by </a:t>
            </a:r>
            <a:r>
              <a:rPr lang="en-US" b="1" dirty="0" err="1"/>
              <a:t>LangChain</a:t>
            </a:r>
            <a:r>
              <a:rPr lang="en-US" dirty="0"/>
              <a:t> orchestration using </a:t>
            </a:r>
            <a:r>
              <a:rPr lang="en-US" b="1" dirty="0" err="1"/>
              <a:t>Groq</a:t>
            </a:r>
            <a:r>
              <a:rPr lang="en-US" b="1" dirty="0"/>
              <a:t> (Llama 3)</a:t>
            </a:r>
            <a:r>
              <a:rPr lang="en-US" dirty="0"/>
              <a:t> for ultra-fast inference and </a:t>
            </a:r>
            <a:r>
              <a:rPr lang="en-US" b="1" dirty="0"/>
              <a:t>Hugging Face Inference API</a:t>
            </a:r>
            <a:r>
              <a:rPr lang="en-US" dirty="0"/>
              <a:t> as a fallback.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D3D6D-C0DA-E3DC-C6EF-3AE2EDDCEDAA}"/>
              </a:ext>
            </a:extLst>
          </p:cNvPr>
          <p:cNvSpPr txBox="1"/>
          <p:nvPr/>
        </p:nvSpPr>
        <p:spPr>
          <a:xfrm>
            <a:off x="211974" y="3222557"/>
            <a:ext cx="11085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Validation:</a:t>
            </a:r>
            <a:r>
              <a:rPr lang="en-US" dirty="0"/>
              <a:t> Uses </a:t>
            </a:r>
            <a:r>
              <a:rPr lang="en-US" b="1" dirty="0" err="1"/>
              <a:t>Pydantic</a:t>
            </a:r>
            <a:r>
              <a:rPr lang="en-US" dirty="0"/>
              <a:t> to ensure generated configurations are strictly valid.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8AC584-A5BD-14C9-BAA4-2926A8692CB9}"/>
              </a:ext>
            </a:extLst>
          </p:cNvPr>
          <p:cNvSpPr txBox="1"/>
          <p:nvPr/>
        </p:nvSpPr>
        <p:spPr>
          <a:xfrm>
            <a:off x="211974" y="4116190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FF00"/>
                </a:highlight>
              </a:rPr>
              <a:t>Why is it Feasible?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078A64-4E9B-4140-888B-9B340E8C1A65}"/>
              </a:ext>
            </a:extLst>
          </p:cNvPr>
          <p:cNvSpPr txBox="1"/>
          <p:nvPr/>
        </p:nvSpPr>
        <p:spPr>
          <a:xfrm>
            <a:off x="211975" y="4674930"/>
            <a:ext cx="11085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Cost-Effective:</a:t>
            </a:r>
            <a:r>
              <a:rPr lang="en-US" dirty="0"/>
              <a:t> Uses free tiers of </a:t>
            </a:r>
            <a:r>
              <a:rPr lang="en-US" dirty="0" err="1"/>
              <a:t>Groq</a:t>
            </a:r>
            <a:r>
              <a:rPr lang="en-US" dirty="0"/>
              <a:t>, Hugging Face, and </a:t>
            </a:r>
            <a:r>
              <a:rPr lang="en-US" dirty="0" err="1"/>
              <a:t>Vercel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B3372C-35C8-C081-B695-EF990EE808DA}"/>
              </a:ext>
            </a:extLst>
          </p:cNvPr>
          <p:cNvSpPr txBox="1"/>
          <p:nvPr/>
        </p:nvSpPr>
        <p:spPr>
          <a:xfrm>
            <a:off x="211975" y="5233670"/>
            <a:ext cx="11359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Scalable:</a:t>
            </a:r>
            <a:r>
              <a:rPr lang="en-US" dirty="0"/>
              <a:t> The backend runs on high-memory containers (16GB RAM on HF Spaces), handling complex architecture requests 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44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1E76-85FC-2FB1-EE33-3C1211E7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D6CBA30C-ABC0-3704-2124-5B242EA58874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Unique Innovation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D07B4BD2-B8E0-8AE4-7701-1705C387070E}"/>
              </a:ext>
            </a:extLst>
          </p:cNvPr>
          <p:cNvSpPr txBox="1">
            <a:spLocks/>
          </p:cNvSpPr>
          <p:nvPr/>
        </p:nvSpPr>
        <p:spPr>
          <a:xfrm>
            <a:off x="1454556" y="2519135"/>
            <a:ext cx="9282887" cy="76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6CB3A-DC18-994A-0B0C-3F3B874F914F}"/>
              </a:ext>
            </a:extLst>
          </p:cNvPr>
          <p:cNvSpPr txBox="1"/>
          <p:nvPr/>
        </p:nvSpPr>
        <p:spPr>
          <a:xfrm>
            <a:off x="0" y="958333"/>
            <a:ext cx="61056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FF00"/>
                </a:highlight>
              </a:rPr>
              <a:t>Key Differentiators: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1BA89-D258-B087-98F2-3F2E0060AD52}"/>
              </a:ext>
            </a:extLst>
          </p:cNvPr>
          <p:cNvSpPr txBox="1"/>
          <p:nvPr/>
        </p:nvSpPr>
        <p:spPr>
          <a:xfrm>
            <a:off x="124692" y="1466372"/>
            <a:ext cx="613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Visual Feedback Loop: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95E04-B87F-8293-59C7-6822AF11CAA6}"/>
              </a:ext>
            </a:extLst>
          </p:cNvPr>
          <p:cNvSpPr txBox="1"/>
          <p:nvPr/>
        </p:nvSpPr>
        <p:spPr>
          <a:xfrm>
            <a:off x="2701636" y="1484922"/>
            <a:ext cx="9573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Existing tools (ChatGPT) only give text/code. Nebula Cloud gives a </a:t>
            </a:r>
            <a:r>
              <a:rPr lang="en-US" b="1" dirty="0"/>
              <a:t>Visual Diagram + Code</a:t>
            </a:r>
            <a:r>
              <a:rPr lang="en-US" dirty="0"/>
              <a:t>, bridging the gap between design and implementation.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242E3-C1CE-2E88-69F1-BFF3D977FBC7}"/>
              </a:ext>
            </a:extLst>
          </p:cNvPr>
          <p:cNvSpPr txBox="1"/>
          <p:nvPr/>
        </p:nvSpPr>
        <p:spPr>
          <a:xfrm>
            <a:off x="0" y="2426802"/>
            <a:ext cx="613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2.  Two-Way State Sync: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FFF2DA-6EA0-A7BE-3B5A-AC32FD2CE228}"/>
              </a:ext>
            </a:extLst>
          </p:cNvPr>
          <p:cNvSpPr txBox="1"/>
          <p:nvPr/>
        </p:nvSpPr>
        <p:spPr>
          <a:xfrm>
            <a:off x="268777" y="2837390"/>
            <a:ext cx="613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  C </a:t>
            </a:r>
            <a:r>
              <a:rPr lang="en-US" b="1" i="1" dirty="0" err="1"/>
              <a:t>ompetitors</a:t>
            </a:r>
            <a:r>
              <a:rPr lang="en-US" i="1" dirty="0"/>
              <a:t>:</a:t>
            </a:r>
            <a:r>
              <a:rPr lang="en-US" dirty="0"/>
              <a:t> Text -&gt; Code (One way).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FDDF1-F698-0603-7F25-9A0F0B077AA0}"/>
              </a:ext>
            </a:extLst>
          </p:cNvPr>
          <p:cNvSpPr txBox="1"/>
          <p:nvPr/>
        </p:nvSpPr>
        <p:spPr>
          <a:xfrm>
            <a:off x="277090" y="3235420"/>
            <a:ext cx="89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  Nebula</a:t>
            </a:r>
            <a:r>
              <a:rPr lang="en-US" i="1" dirty="0"/>
              <a:t>:</a:t>
            </a:r>
            <a:r>
              <a:rPr lang="en-US" dirty="0"/>
              <a:t> Text &lt;-&gt; Visual &lt;-&gt; Code (Full Cycle). If you drag a node, the code rewrites itself.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9B55D2-577F-B8E7-66E1-F8F2BBB0736E}"/>
              </a:ext>
            </a:extLst>
          </p:cNvPr>
          <p:cNvSpPr txBox="1"/>
          <p:nvPr/>
        </p:nvSpPr>
        <p:spPr>
          <a:xfrm>
            <a:off x="124692" y="3695505"/>
            <a:ext cx="11277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Model Agnostic Backend:</a:t>
            </a:r>
            <a:r>
              <a:rPr lang="en-US" dirty="0"/>
              <a:t> Our Python backend uses </a:t>
            </a:r>
            <a:r>
              <a:rPr lang="en-US" b="1" dirty="0" err="1"/>
              <a:t>LangChain</a:t>
            </a:r>
            <a:r>
              <a:rPr lang="en-US" dirty="0"/>
              <a:t>, allowing us to switch between Llama 3, Mistral, or Gemini models instantly based on availability.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1AFBD-23F3-466D-9625-0AD7AA21E422}"/>
              </a:ext>
            </a:extLst>
          </p:cNvPr>
          <p:cNvSpPr txBox="1"/>
          <p:nvPr/>
        </p:nvSpPr>
        <p:spPr>
          <a:xfrm>
            <a:off x="124691" y="4495810"/>
            <a:ext cx="11277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No Hallucinations:</a:t>
            </a:r>
            <a:r>
              <a:rPr lang="en-US" dirty="0"/>
              <a:t> We use a strict </a:t>
            </a:r>
            <a:r>
              <a:rPr lang="en-US" b="1" dirty="0"/>
              <a:t>JSON Schema</a:t>
            </a:r>
            <a:r>
              <a:rPr lang="en-US" dirty="0"/>
              <a:t> contract (</a:t>
            </a:r>
            <a:r>
              <a:rPr lang="en-US" dirty="0" err="1"/>
              <a:t>Pydantic</a:t>
            </a:r>
            <a:r>
              <a:rPr lang="en-US" dirty="0"/>
              <a:t>), ensuring the AI creates valid connections (e.g., it won't connect an S3 bucket to a VPC improperly).</a:t>
            </a:r>
          </a:p>
        </p:txBody>
      </p:sp>
    </p:spTree>
    <p:extLst>
      <p:ext uri="{BB962C8B-B14F-4D97-AF65-F5344CB8AC3E}">
        <p14:creationId xmlns:p14="http://schemas.microsoft.com/office/powerpoint/2010/main" val="130922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6DBA-C7C2-5292-127A-F37480C5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391897EF-1191-CCA1-6A75-12BADB8D34AC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Team Member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B8A442-26ED-CE66-2900-2BDD3ACA4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587346"/>
              </p:ext>
            </p:extLst>
          </p:nvPr>
        </p:nvGraphicFramePr>
        <p:xfrm>
          <a:off x="1351855" y="2092037"/>
          <a:ext cx="8818243" cy="25547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6222">
                  <a:extLst>
                    <a:ext uri="{9D8B030D-6E8A-4147-A177-3AD203B41FA5}">
                      <a16:colId xmlns:a16="http://schemas.microsoft.com/office/drawing/2014/main" val="3401576790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2951707054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1747919049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678425512"/>
                    </a:ext>
                  </a:extLst>
                </a:gridCol>
              </a:tblGrid>
              <a:tr h="378486">
                <a:tc>
                  <a:txBody>
                    <a:bodyPr/>
                    <a:lstStyle/>
                    <a:p>
                      <a:r>
                        <a:rPr lang="en-US" dirty="0"/>
                        <a:t>Member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64712"/>
                  </a:ext>
                </a:extLst>
              </a:tr>
              <a:tr h="662350">
                <a:tc>
                  <a:txBody>
                    <a:bodyPr/>
                    <a:lstStyle/>
                    <a:p>
                      <a:r>
                        <a:rPr lang="en-US" dirty="0"/>
                        <a:t>Manav Merja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Full Stack Developer &amp; ML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Tech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506467"/>
                  </a:ext>
                </a:extLst>
              </a:tr>
              <a:tr h="378486">
                <a:tc>
                  <a:txBody>
                    <a:bodyPr/>
                    <a:lstStyle/>
                    <a:p>
                      <a:r>
                        <a:rPr lang="en-US" dirty="0"/>
                        <a:t>Dev Jivani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Fronted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B.Tech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818008"/>
                  </a:ext>
                </a:extLst>
              </a:tr>
              <a:tr h="378486">
                <a:tc>
                  <a:txBody>
                    <a:bodyPr/>
                    <a:lstStyle/>
                    <a:p>
                      <a:r>
                        <a:rPr lang="en-US" dirty="0" err="1"/>
                        <a:t>Bhagav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Rakhodiya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B.Tech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706444"/>
                  </a:ext>
                </a:extLst>
              </a:tr>
              <a:tr h="3784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871293"/>
                  </a:ext>
                </a:extLst>
              </a:tr>
              <a:tr h="3784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01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21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EE35B-8AD0-F1C3-10B1-B4A72A31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DE57476-2C32-3E67-2E94-C1DD340F5304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Rules for PPT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7F2C0827-1EF8-4143-4A23-6D7F9AABF013}"/>
              </a:ext>
            </a:extLst>
          </p:cNvPr>
          <p:cNvSpPr txBox="1">
            <a:spLocks/>
          </p:cNvSpPr>
          <p:nvPr/>
        </p:nvSpPr>
        <p:spPr>
          <a:xfrm>
            <a:off x="1454556" y="1204331"/>
            <a:ext cx="9282887" cy="4928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Do not alter the format of the PPT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Present content creatively on each slide.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Please use only this PPT format for idea submission; failure to do so may result in disqualification.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 your PPT does not exceed the specified 6 slides.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You may delete this slide (Rules for PPT) before uploading.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22653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700</Words>
  <Application>Microsoft Office PowerPoint</Application>
  <PresentationFormat>Widescreen</PresentationFormat>
  <Paragraphs>65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Satoshi</vt:lpstr>
      <vt:lpstr>Office Theme</vt:lpstr>
      <vt:lpstr>PowerPoint Presentation</vt:lpstr>
      <vt:lpstr>PowerPoint Presentation</vt:lpstr>
      <vt:lpstr>Objectives:  Automate Design: Reduce cloud architecture design time from hours to seconds using NLP.  Interactive Learning: Provide a drag-and-drop canvas (React Flow) to help students learn cloud concepts visually.  Production Ready: Generate valid, deployable Terraform code directly from the visual design.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Harshil Khamar (Cloud &amp; Platform Engineering)</dc:creator>
  <cp:lastModifiedBy>24dce074 manav merja</cp:lastModifiedBy>
  <cp:revision>6</cp:revision>
  <dcterms:created xsi:type="dcterms:W3CDTF">2025-12-03T17:50:31Z</dcterms:created>
  <dcterms:modified xsi:type="dcterms:W3CDTF">2025-12-25T17:34:35Z</dcterms:modified>
</cp:coreProperties>
</file>